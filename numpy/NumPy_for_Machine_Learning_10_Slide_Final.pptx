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37d36b3dc374432" Type="http://schemas.openxmlformats.org/officeDocument/2006/relationships/officeDocument" Target="ppt/presentation.xml"/><Relationship Id="R7b6bc3b85a624a1d" Type="http://schemas.openxmlformats.org/package/2006/relationships/metadata/core-properties" Target="docProps/core.xml"/><Relationship Id="R9b4f2ae6a3e54d9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ef1fdc03d4215"/>
  </p:sldMasterIdLst>
  <p:notesMasterIdLst>
    <p:notesMasterId xmlns:r="http://schemas.openxmlformats.org/officeDocument/2006/relationships" r:id="R3514e5613ae448aa"/>
  </p:notesMasterIdLst>
  <p:sldIdLst>
    <p:sldId xmlns:r="http://schemas.openxmlformats.org/officeDocument/2006/relationships" id="256" r:id="R12988445697c437d"/>
    <p:sldId xmlns:r="http://schemas.openxmlformats.org/officeDocument/2006/relationships" id="259" r:id="R129379b37d4149a8"/>
    <p:sldId xmlns:r="http://schemas.openxmlformats.org/officeDocument/2006/relationships" id="260" r:id="Ra789d795f85f41ab"/>
    <p:sldId xmlns:r="http://schemas.openxmlformats.org/officeDocument/2006/relationships" id="263" r:id="R19bf36d47bb14814"/>
    <p:sldId xmlns:r="http://schemas.openxmlformats.org/officeDocument/2006/relationships" id="264" r:id="R9daa5b0849b44511"/>
    <p:sldId xmlns:r="http://schemas.openxmlformats.org/officeDocument/2006/relationships" id="265" r:id="R81fd650fd9414d2b"/>
    <p:sldId xmlns:r="http://schemas.openxmlformats.org/officeDocument/2006/relationships" id="266" r:id="R4e31a37b07cf42e2"/>
    <p:sldId xmlns:r="http://schemas.openxmlformats.org/officeDocument/2006/relationships" id="279" r:id="R1f919d2fe3de4128"/>
    <p:sldId xmlns:r="http://schemas.openxmlformats.org/officeDocument/2006/relationships" id="278" r:id="R301ec39c20344691"/>
    <p:sldId xmlns:r="http://schemas.openxmlformats.org/officeDocument/2006/relationships" id="283" r:id="R4959115c394b4eb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275460c556e4cd7" Type="http://schemas.openxmlformats.org/officeDocument/2006/relationships/theme" Target="theme/theme1.xml"/><Relationship Id="R129379b37d4149a8" Type="http://schemas.openxmlformats.org/officeDocument/2006/relationships/slide" Target="slides/slide4.xml"/><Relationship Id="R12988445697c437d" Type="http://schemas.openxmlformats.org/officeDocument/2006/relationships/slide" Target="slides/slide1.xml"/><Relationship Id="R19bf36d47bb14814" Type="http://schemas.openxmlformats.org/officeDocument/2006/relationships/slide" Target="slides/slide8.xml"/><Relationship Id="R1c765e0388d340a1" Type="http://schemas.openxmlformats.org/officeDocument/2006/relationships/slide" Target="slides/slide22.xml"/><Relationship Id="R1f919d2fe3de4128" Type="http://schemas.openxmlformats.org/officeDocument/2006/relationships/slide" Target="slides/slide24.xml"/><Relationship Id="R301ec39c20344691" Type="http://schemas.openxmlformats.org/officeDocument/2006/relationships/slide" Target="slides/slide23.xml"/><Relationship Id="R3514e5613ae448aa" Type="http://schemas.openxmlformats.org/officeDocument/2006/relationships/notesMaster" Target="notesMasters/notesMaster1.xml"/><Relationship Id="R4142e207a69744ca" Type="http://schemas.openxmlformats.org/officeDocument/2006/relationships/slide" Target="slides/slide15.xml"/><Relationship Id="R437155d2aabe48c8" Type="http://schemas.openxmlformats.org/officeDocument/2006/relationships/slide" Target="slides/slide29.xml"/><Relationship Id="R4959115c394b4ebd" Type="http://schemas.openxmlformats.org/officeDocument/2006/relationships/slide" Target="slides/slide28.xml"/><Relationship Id="R4def3499676243d5" Type="http://schemas.openxmlformats.org/officeDocument/2006/relationships/slide" Target="slides/slide7.xml"/><Relationship Id="R4e31a37b07cf42e2" Type="http://schemas.openxmlformats.org/officeDocument/2006/relationships/slide" Target="slides/slide11.xml"/><Relationship Id="R54b40cb65ffe478a" Type="http://schemas.openxmlformats.org/officeDocument/2006/relationships/tableStyles" Target="tableStyles.xml"/><Relationship Id="R637856b1d5a44531" Type="http://schemas.openxmlformats.org/officeDocument/2006/relationships/slide" Target="slides/slide20.xml"/><Relationship Id="R771c70c6a60e44bd" Type="http://schemas.openxmlformats.org/officeDocument/2006/relationships/presProps" Target="presProps.xml"/><Relationship Id="R779765afbb224d66" Type="http://schemas.openxmlformats.org/officeDocument/2006/relationships/slide" Target="slides/slide30.xml"/><Relationship Id="R7918ddcb6ea54ad1" Type="http://schemas.openxmlformats.org/officeDocument/2006/relationships/slide" Target="slides/slide17.xml"/><Relationship Id="R7c703528d5c9483a" Type="http://schemas.openxmlformats.org/officeDocument/2006/relationships/slide" Target="slides/slide13.xml"/><Relationship Id="R81fd650fd9414d2b" Type="http://schemas.openxmlformats.org/officeDocument/2006/relationships/slide" Target="slides/slide10.xml"/><Relationship Id="R870fef32177a4e04" Type="http://schemas.openxmlformats.org/officeDocument/2006/relationships/slide" Target="slides/slide12.xml"/><Relationship Id="R88d684d21df044e8" Type="http://schemas.openxmlformats.org/officeDocument/2006/relationships/slide" Target="slides/slide19.xml"/><Relationship Id="R94bef1fdc03d4215" Type="http://schemas.openxmlformats.org/officeDocument/2006/relationships/slideMaster" Target="slideMasters/slideMaster1.xml"/><Relationship Id="R9a8b0d9994f34d05" Type="http://schemas.openxmlformats.org/officeDocument/2006/relationships/slide" Target="slides/slide3.xml"/><Relationship Id="R9daa5b0849b44511" Type="http://schemas.openxmlformats.org/officeDocument/2006/relationships/slide" Target="slides/slide9.xml"/><Relationship Id="R9de56dde603543fb" Type="http://schemas.openxmlformats.org/officeDocument/2006/relationships/slide" Target="slides/slide14.xml"/><Relationship Id="Ra789d795f85f41ab" Type="http://schemas.openxmlformats.org/officeDocument/2006/relationships/slide" Target="slides/slide5.xml"/><Relationship Id="Rb337b728a91141d4" Type="http://schemas.openxmlformats.org/officeDocument/2006/relationships/slide" Target="slides/slide16.xml"/><Relationship Id="Rbd6d8a2de4de4462" Type="http://schemas.openxmlformats.org/officeDocument/2006/relationships/slide" Target="slides/slide27.xml"/><Relationship Id="Rdab7f7d5d059422a" Type="http://schemas.openxmlformats.org/officeDocument/2006/relationships/slide" Target="slides/slide18.xml"/><Relationship Id="Rdcb9ea633f3c45b5" Type="http://schemas.openxmlformats.org/officeDocument/2006/relationships/slide" Target="slides/slide2.xml"/><Relationship Id="Ree6d11b005094419" Type="http://schemas.openxmlformats.org/officeDocument/2006/relationships/slide" Target="slides/slide21.xml"/><Relationship Id="Rf110aa2b10f148c4" Type="http://schemas.openxmlformats.org/officeDocument/2006/relationships/slide" Target="slides/slide25.xml"/><Relationship Id="Rf7b5ce58f5c54697" Type="http://schemas.openxmlformats.org/officeDocument/2006/relationships/slide" Target="slides/slide31.xml"/><Relationship Id="Rfb923abd3fed46a7" Type="http://schemas.openxmlformats.org/officeDocument/2006/relationships/slide" Target="slides/slide32.xml"/><Relationship Id="Rfcf51cb3ca1d445f" Type="http://schemas.openxmlformats.org/officeDocument/2006/relationships/slide" Target="slides/slide6.xml"/><Relationship Id="Rfe3f88cd51e44c95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e5ea746e20294fa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d76172443354bc6" Type="http://schemas.openxmlformats.org/officeDocument/2006/relationships/notesMaster" Target="../notesMasters/notesMaster1.xml"/><Relationship Id="Ra506f06c2ac341b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f84de8f645b4db6" Type="http://schemas.openxmlformats.org/officeDocument/2006/relationships/slide" Target="../slides/slide2.xml"/><Relationship Id="Ra4b4c706257f4cc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532b584a5cd475f" Type="http://schemas.openxmlformats.org/officeDocument/2006/relationships/slide" Target="../slides/slide3.xml"/><Relationship Id="Rcf0ac535bad2476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9a3d6411baf4e1c" Type="http://schemas.openxmlformats.org/officeDocument/2006/relationships/slide" Target="../slides/slide4.xml"/><Relationship Id="Rf181bdc629d545f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4b38089731a4d6a" Type="http://schemas.openxmlformats.org/officeDocument/2006/relationships/slide" Target="../slides/slide5.xml"/><Relationship Id="R4f66d6446f234fe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f5795ab87be4cc6" Type="http://schemas.openxmlformats.org/officeDocument/2006/relationships/slide" Target="../slides/slide6.xml"/><Relationship Id="Rb0ad4256cecc447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01d381adbe043b6" Type="http://schemas.openxmlformats.org/officeDocument/2006/relationships/notesMaster" Target="../notesMasters/notesMaster1.xml"/><Relationship Id="Rb68fa55a76f4477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7a22aeb42714be3" Type="http://schemas.openxmlformats.org/officeDocument/2006/relationships/slide" Target="../slides/slide8.xml"/><Relationship Id="R87cfc6affb9e485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8053f86939884eb7" Type="http://schemas.openxmlformats.org/officeDocument/2006/relationships/notesMaster" Target="../notesMasters/notesMaster1.xml"/><Relationship Id="Rcfa93b6811d64f5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422e6e21eda4a7d" Type="http://schemas.openxmlformats.org/officeDocument/2006/relationships/slide" Target="../slides/slide10.xml"/><Relationship Id="R8d21f7c6326a412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a5a97affe1f46de" Type="http://schemas.openxmlformats.org/officeDocument/2006/relationships/notesMaster" Target="../notesMasters/notesMaster1.xml"/><Relationship Id="Rde71a854d8d94dee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45f0512ed4a4db9" Type="http://schemas.openxmlformats.org/officeDocument/2006/relationships/notesMaster" Target="../notesMasters/notesMaster1.xml"/><Relationship Id="Re3b1ec521ef84857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492d4d556fd4ddf" Type="http://schemas.openxmlformats.org/officeDocument/2006/relationships/notesMaster" Target="../notesMasters/notesMaster1.xml"/><Relationship Id="Rc7b904e4b022469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ab16519942b4fc2" Type="http://schemas.openxmlformats.org/officeDocument/2006/relationships/notesMaster" Target="../notesMasters/notesMaster1.xml"/><Relationship Id="R6f12455c4ee44869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8a2775e63eb04428" Type="http://schemas.openxmlformats.org/officeDocument/2006/relationships/slide" Target="../slides/slide15.xml"/><Relationship Id="Rca30026921244b49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f69a6e128d94f27" Type="http://schemas.openxmlformats.org/officeDocument/2006/relationships/slide" Target="../slides/slide16.xml"/><Relationship Id="R95f8f96c4c0145f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408c9f320144cf9" Type="http://schemas.openxmlformats.org/officeDocument/2006/relationships/slide" Target="../slides/slide17.xml"/><Relationship Id="Re75f4f2422834da8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217e6c4fa4a4447d" Type="http://schemas.openxmlformats.org/officeDocument/2006/relationships/notesMaster" Target="../notesMasters/notesMaster1.xml"/><Relationship Id="R309ede4a03ef48a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11e9266b04d49e8" Type="http://schemas.openxmlformats.org/officeDocument/2006/relationships/notesMaster" Target="../notesMasters/notesMaster1.xml"/><Relationship Id="R79a29a9b3d3e42cd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cf12c630812d4440" Type="http://schemas.openxmlformats.org/officeDocument/2006/relationships/notesMaster" Target="../notesMasters/notesMaster1.xml"/><Relationship Id="Rd210ae18d4f045ff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62cfe43389ad45e3" Type="http://schemas.openxmlformats.org/officeDocument/2006/relationships/slide" Target="../slides/slide21.xml"/><Relationship Id="R9ad372345027411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8b673c0c65974dfb" Type="http://schemas.openxmlformats.org/officeDocument/2006/relationships/slide" Target="../slides/slide22.xml"/><Relationship Id="Rd67cef3e713c4d2f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2e126b0bac7845eb" Type="http://schemas.openxmlformats.org/officeDocument/2006/relationships/slide" Target="../slides/slide23.xml"/><Relationship Id="R7fb79660ca98457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17f291b2d16e4d80" Type="http://schemas.openxmlformats.org/officeDocument/2006/relationships/notesMaster" Target="../notesMasters/notesMaster1.xml"/><Relationship Id="R73fae6f5cac849f0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311f8e3d58d1419b" Type="http://schemas.openxmlformats.org/officeDocument/2006/relationships/slide" Target="../slides/slide25.xml"/><Relationship Id="Ra77bc0ead9b44a77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2d17ce8f504f4165" Type="http://schemas.openxmlformats.org/officeDocument/2006/relationships/notesMaster" Target="../notesMasters/notesMaster1.xml"/><Relationship Id="R69d267cee8554681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74facd0c1f8e4a67" Type="http://schemas.openxmlformats.org/officeDocument/2006/relationships/notesMaster" Target="../notesMasters/notesMaster1.xml"/><Relationship Id="R7662915f7d86475c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75e638122fc54cff" Type="http://schemas.openxmlformats.org/officeDocument/2006/relationships/notesMaster" Target="../notesMasters/notesMaster1.xml"/><Relationship Id="R821946992acf4c4b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07b8673b2b4342dc" Type="http://schemas.openxmlformats.org/officeDocument/2006/relationships/slide" Target="../slides/slide29.xml"/><Relationship Id="R775f8ce5335a4d8d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5ddd42120f364d90" Type="http://schemas.openxmlformats.org/officeDocument/2006/relationships/slide" Target="../slides/slide30.xml"/><Relationship Id="Rb1e464868a6b4c86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6343ca6fb9254f55" Type="http://schemas.openxmlformats.org/officeDocument/2006/relationships/slide" Target="../slides/slide31.xml"/><Relationship Id="Re317bb25765a4395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dadc147d3f9647c6" Type="http://schemas.openxmlformats.org/officeDocument/2006/relationships/slide" Target="../slides/slide32.xml"/><Relationship Id="Rfe8f732558c0438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position NumPy as the numerical foundation for the rest of the ML workflow.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Concept: NumPy uses homogeneous ndarrays. Syntax and output compare list comprehension with vectorized multiplication. ML connection: feature matrices and model parameters are numerical arrays.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Creation functions from the cheat sheet. `arange` excludes its stop. `linspace` includes both endpoints by default.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1D, 2D, and 3D structures. Explain shape as a tuple of axis lengths.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`ndim`, `shape`, `size`, and `dtype` are attributes, not methods. Shape checks prevent common ML errors.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Syntax, outputs, and ML use for indexing and slicing.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`a * b` is element-wise. Matrix multiplication appears later.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`axis=0` for per-feature statistics and `axis=1` for per-sample statistics.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`-1` inference, copies versus possible views for flatten/ravel, and transpose.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Joining functions and output shapes from the cheat sheet.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`split` requires equal divisions; `array_split` permits unequal divisions.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`&amp;`, `|`, and `~` for element-wise logical operations, not Python `and` and `or`.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Broadcasting avoids manual repetition. ML connection: add a bias vector to every sample or subtract feature means.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Also note: `b = a` creates another reference to the same array, not a copy.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`sort` returns sorted values. `argsort` returns the indices that would sort values.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numerical summaries to validate ranges, distributions, and potential outliers.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random-number functions shown in the Cheat Sheet, including `np.random.seed(42)`, `rand`, `randn`, `randint`, `choice`, and `shuffle`.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linear-system example using `np.linalg.solve`, as shown in the Cheat Sheet.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Verify the shown outputs: `A @ B` is matrix multiplication; `A * B` is element-wise.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Min-max scaling uses the feature min and max. `np.isnan` supplies a boolean mask for missing values.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sizes are 16 except the final batch, which may be smaller.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requires scikit-learn. `random_state=42` makes the split repeatable.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from the cheat sheet. NumPy handles arrays; Pandas adds labels and analysis; ML libraries build and evaluate models.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scaled row is [0. 0.]. Min-max scaling keeps each feature in the [0, 1] range.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Quick reference based on the cheat sheet. Shape, dtype, broadcasting, references, and boolean operators are frequent sources of errors.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core concepts and the bridge to Pandas and machine-learning libraries.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about shapes, axes, broadcasting, or using NumPy inside a practical ML workflow.</a:t>
            </a:r>
          </a:p>
          <a:p xmlns:a="http://schemas.openxmlformats.org/drawingml/2006/main">
            <a:r>
              <a:t>Source: NumPy Cheat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19ef2165d34f3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bc40cd8e1a3447c" Type="http://schemas.openxmlformats.org/officeDocument/2006/relationships/slideLayout" Target="../slideLayouts/slideLayout1.xml"/><Relationship Id="Ra3f904873607448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40cd8e1a344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74128b8b0504edb" Type="http://schemas.openxmlformats.org/officeDocument/2006/relationships/slideLayout" Target="../slideLayouts/slideLayout1.xml"/><Relationship Id="R6986c87840f3406c" Type="http://schemas.openxmlformats.org/officeDocument/2006/relationships/image" Target="../media/image.png"/><Relationship Id="Rf2bb88e16eaa447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ee45482c546497f" Type="http://schemas.openxmlformats.org/officeDocument/2006/relationships/image" Target="../media/image2.png"/><Relationship Id="R98d835625e7547dc" Type="http://schemas.openxmlformats.org/officeDocument/2006/relationships/slideLayout" Target="../slideLayouts/slideLayout1.xml"/><Relationship Id="Ra7b53e1e08f5426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b06994ab9a947fa" Type="http://schemas.openxmlformats.org/officeDocument/2006/relationships/image" Target="../media/image3.png"/><Relationship Id="R765a7b8ea3244035" Type="http://schemas.openxmlformats.org/officeDocument/2006/relationships/slideLayout" Target="../slideLayouts/slideLayout1.xml"/><Relationship Id="Rc426c636547648ec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81d2e829b05c4419" Type="http://schemas.openxmlformats.org/officeDocument/2006/relationships/notesSlide" Target="../notesSlides/notesSlide4.xml"/><Relationship Id="Rad3843862e8b494d" Type="http://schemas.openxmlformats.org/officeDocument/2006/relationships/slideLayout" Target="../slideLayouts/slideLayout1.xml"/><Relationship Id="Rb75b36329315477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36d5bf093d7f405e" Type="http://schemas.openxmlformats.org/officeDocument/2006/relationships/image" Target="../media/image5.png"/><Relationship Id="R435f8176085840c0" Type="http://schemas.openxmlformats.org/officeDocument/2006/relationships/notesSlide" Target="../notesSlides/notesSlide5.xml"/><Relationship Id="R61b1479f140e47f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312e9b65ea14b1f" Type="http://schemas.openxmlformats.org/officeDocument/2006/relationships/image" Target="../media/image6.png"/><Relationship Id="R60d2c695af104326" Type="http://schemas.openxmlformats.org/officeDocument/2006/relationships/notesSlide" Target="../notesSlides/notesSlide6.xml"/><Relationship Id="Rda9f258280b24c0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3c46f568bea42a3" Type="http://schemas.openxmlformats.org/officeDocument/2006/relationships/slideLayout" Target="../slideLayouts/slideLayout1.xml"/><Relationship Id="R5d2c8a097ef2475c" Type="http://schemas.openxmlformats.org/officeDocument/2006/relationships/image" Target="../media/image7.png"/><Relationship Id="R677f5c392db64aa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cbd0605125943c0" Type="http://schemas.openxmlformats.org/officeDocument/2006/relationships/image" Target="../media/image8.png"/><Relationship Id="Re6eeb533e6de458e" Type="http://schemas.openxmlformats.org/officeDocument/2006/relationships/slideLayout" Target="../slideLayouts/slideLayout1.xml"/><Relationship Id="Rf0d87778ef914f7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c2fefcf7a54414d" Type="http://schemas.openxmlformats.org/officeDocument/2006/relationships/image" Target="../media/image9.png"/><Relationship Id="R7370afa07c114fae" Type="http://schemas.openxmlformats.org/officeDocument/2006/relationships/slideLayout" Target="../slideLayouts/slideLayout1.xml"/><Relationship Id="R929cfaf360b346f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9ac97cdd7384e94" Type="http://schemas.openxmlformats.org/officeDocument/2006/relationships/notesSlide" Target="../notesSlides/notesSlide10.xml"/><Relationship Id="R9f9b663b14954242" Type="http://schemas.openxmlformats.org/officeDocument/2006/relationships/slideLayout" Target="../slideLayouts/slideLayout1.xml"/><Relationship Id="Rf869b181ca7d4a5f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57963f582c7b4607" Type="http://schemas.openxmlformats.org/officeDocument/2006/relationships/slideLayout" Target="../slideLayouts/slideLayout1.xml"/><Relationship Id="R5ff12d97f6994220" Type="http://schemas.openxmlformats.org/officeDocument/2006/relationships/image" Target="../media/image11.png"/><Relationship Id="R927ff8b2eb4b4d4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695d06e9cec4255" Type="http://schemas.openxmlformats.org/officeDocument/2006/relationships/slideLayout" Target="../slideLayouts/slideLayout1.xml"/><Relationship Id="R4231154f566b41c1" Type="http://schemas.openxmlformats.org/officeDocument/2006/relationships/notesSlide" Target="../notesSlides/notesSlide12.xml"/><Relationship Id="Rb90d88ca33534eb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0bb11ea353e343d3" Type="http://schemas.openxmlformats.org/officeDocument/2006/relationships/notesSlide" Target="../notesSlides/notesSlide13.xml"/><Relationship Id="R0e5bb96e4bfe46da" Type="http://schemas.openxmlformats.org/officeDocument/2006/relationships/image" Target="../media/image13.png"/><Relationship Id="Rb3fdf10743f5404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8e7676c403e4a5f" Type="http://schemas.openxmlformats.org/officeDocument/2006/relationships/image" Target="../media/image14.png"/><Relationship Id="R90b30cf007854fde" Type="http://schemas.openxmlformats.org/officeDocument/2006/relationships/slideLayout" Target="../slideLayouts/slideLayout1.xml"/><Relationship Id="Rc6485fcea6d644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acf7e5cc62d4184" Type="http://schemas.openxmlformats.org/officeDocument/2006/relationships/image" Target="../media/image15.png"/><Relationship Id="Re9d184f5d6c64b72" Type="http://schemas.openxmlformats.org/officeDocument/2006/relationships/notesSlide" Target="../notesSlides/notesSlide15.xml"/><Relationship Id="Reef2044ee192480a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21efe2e90224f6a" Type="http://schemas.openxmlformats.org/officeDocument/2006/relationships/notesSlide" Target="../notesSlides/notesSlide16.xml"/><Relationship Id="R7587de8faa214ff4" Type="http://schemas.openxmlformats.org/officeDocument/2006/relationships/image" Target="../media/image16.png"/><Relationship Id="R8731e26556934bb4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a22a818d801a4d41" Type="http://schemas.openxmlformats.org/officeDocument/2006/relationships/image" Target="../media/image17.png"/><Relationship Id="Rafabf39f452342d2" Type="http://schemas.openxmlformats.org/officeDocument/2006/relationships/slideLayout" Target="../slideLayouts/slideLayout1.xml"/><Relationship Id="Rdf5f50dc113d447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7e1c74f3879f48a8" Type="http://schemas.openxmlformats.org/officeDocument/2006/relationships/slideLayout" Target="../slideLayouts/slideLayout1.xml"/><Relationship Id="Re1ef307713554039" Type="http://schemas.openxmlformats.org/officeDocument/2006/relationships/notesSlide" Target="../notesSlides/notesSlide18.xml"/><Relationship Id="Re36e0a3b199d48d0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5abbe66a71df4769" Type="http://schemas.openxmlformats.org/officeDocument/2006/relationships/notesSlide" Target="../notesSlides/notesSlide19.xml"/><Relationship Id="Rc54e65ce61754f87" Type="http://schemas.openxmlformats.org/officeDocument/2006/relationships/image" Target="../media/image19.png"/><Relationship Id="Rebf802c5e1e0499e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1d68b654f74d42bf" Type="http://schemas.openxmlformats.org/officeDocument/2006/relationships/slideLayout" Target="../slideLayouts/slideLayout1.xml"/><Relationship Id="R8f3af3b9be4843e8" Type="http://schemas.openxmlformats.org/officeDocument/2006/relationships/image" Target="../media/image20.png"/><Relationship Id="Rf6df0d81beaa481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23cd9ccb105a478a" Type="http://schemas.openxmlformats.org/officeDocument/2006/relationships/image" Target="../media/image21.png"/><Relationship Id="R5a0fcc487d244677" Type="http://schemas.openxmlformats.org/officeDocument/2006/relationships/slideLayout" Target="../slideLayouts/slideLayout1.xml"/><Relationship Id="R8b53fb40bb984ac0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29995c009db14e06" Type="http://schemas.openxmlformats.org/officeDocument/2006/relationships/image" Target="../media/image22.png"/><Relationship Id="Rbd8aa2dc68ac41cf" Type="http://schemas.openxmlformats.org/officeDocument/2006/relationships/slideLayout" Target="../slideLayouts/slideLayout1.xml"/><Relationship Id="Rcea482de60634b4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d674851586084d30" Type="http://schemas.openxmlformats.org/officeDocument/2006/relationships/slideLayout" Target="../slideLayouts/slideLayout1.xml"/><Relationship Id="Rd9095acd9a864b0e" Type="http://schemas.openxmlformats.org/officeDocument/2006/relationships/notesSlide" Target="../notesSlides/notesSlide23.xml"/><Relationship Id="Rfcdc6ad4ae054a73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2e7f69727ca04447" Type="http://schemas.openxmlformats.org/officeDocument/2006/relationships/image" Target="../media/image24.png"/><Relationship Id="R77d99ce352414b4d" Type="http://schemas.openxmlformats.org/officeDocument/2006/relationships/notesSlide" Target="../notesSlides/notesSlide24.xml"/><Relationship Id="R88a04783edbf42fa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08feaed55f134816" Type="http://schemas.openxmlformats.org/officeDocument/2006/relationships/notesSlide" Target="../notesSlides/notesSlide25.xml"/><Relationship Id="R53c37acf1b31450b" Type="http://schemas.openxmlformats.org/officeDocument/2006/relationships/image" Target="../media/image25.png"/><Relationship Id="Ra14aedfe6e5a4718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2055bb7dbf1b4d2e" Type="http://schemas.openxmlformats.org/officeDocument/2006/relationships/notesSlide" Target="../notesSlides/notesSlide26.xml"/><Relationship Id="R37fbe93a78e34a7b" Type="http://schemas.openxmlformats.org/officeDocument/2006/relationships/image" Target="../media/image26.png"/><Relationship Id="Rd9f9f17f94a24e1f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32fb5b017f6a4bcf" Type="http://schemas.openxmlformats.org/officeDocument/2006/relationships/image" Target="../media/image27.png"/><Relationship Id="R5591a6543f264bae" Type="http://schemas.openxmlformats.org/officeDocument/2006/relationships/slideLayout" Target="../slideLayouts/slideLayout1.xml"/><Relationship Id="Rf8fe7afaac654d1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1b980c015447451a" Type="http://schemas.openxmlformats.org/officeDocument/2006/relationships/slideLayout" Target="../slideLayouts/slideLayout1.xml"/><Relationship Id="R802ecf534f654d18" Type="http://schemas.openxmlformats.org/officeDocument/2006/relationships/notesSlide" Target="../notesSlides/notesSlide28.xml"/><Relationship Id="R8f2e415ebb9343b7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b4b85a1800994628" Type="http://schemas.openxmlformats.org/officeDocument/2006/relationships/image" Target="../media/image29.png"/><Relationship Id="Rdee1c583aaa344c4" Type="http://schemas.openxmlformats.org/officeDocument/2006/relationships/notesSlide" Target="../notesSlides/notesSlide29.xml"/><Relationship Id="Re743e446a59f48b6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54ac7a14f92247ae" Type="http://schemas.openxmlformats.org/officeDocument/2006/relationships/notesSlide" Target="../notesSlides/notesSlide30.xml"/><Relationship Id="R92a46d54c96b4841" Type="http://schemas.openxmlformats.org/officeDocument/2006/relationships/image" Target="../media/image30.png"/><Relationship Id="Rc53f703188d5426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2685be4f12ba44bf" Type="http://schemas.openxmlformats.org/officeDocument/2006/relationships/image" Target="../media/image31.png"/><Relationship Id="R57c44503f2b84b61" Type="http://schemas.openxmlformats.org/officeDocument/2006/relationships/notesSlide" Target="../notesSlides/notesSlide31.xml"/><Relationship Id="R97cfd05ddb9e4c2a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4fa79bc6714d48b1" Type="http://schemas.openxmlformats.org/officeDocument/2006/relationships/notesSlide" Target="../notesSlides/notesSlide32.xml"/><Relationship Id="R834745284064405f" Type="http://schemas.openxmlformats.org/officeDocument/2006/relationships/slideLayout" Target="../slideLayouts/slideLayout1.xml"/><Relationship Id="Rafb802626c994b4e" Type="http://schemas.openxmlformats.org/officeDocument/2006/relationships/image" Target="../media/image32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FFC2D-F0E1-4C90-8C44-745BE32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-2952750"/>
            <a:ext cx="10001250" cy="1000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E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FD565-4878-457D-A161-711F025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762500" y="7048500"/>
            <a:ext cx="93345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6c87840f3406c"/>
          <a:stretch xmlns:a="http://schemas.openxmlformats.org/drawingml/2006/main"/>
        </p:blipFill>
        <p:spPr>
          <a:xfrm xmlns:a="http://schemas.openxmlformats.org/drawingml/2006/main">
            <a:off x="800100" y="7143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46DFD-8A5B-4E56-9FDB-06BA4D33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24"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84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NUMPY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A2468-E330-427C-9CA5-DAC50110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1162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502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FOR MACHINE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B04FF-84F0-45B1-881D-8AF978C3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NumPy for numerical computing and ML • ndarray vs Python lists • fast vectorized array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DAF00-7F4B-470D-A664-C11D71DF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5248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ACM ML Workshop</a:t>
            </a:r>
          </a:p>
        </p:txBody>
      </p:sp>
    </p:spTree>
    <p:extLst>
      <p:ext uri="{BB962C8B-B14F-4D97-AF65-F5344CB8AC3E}">
        <p14:creationId xmlns:p14="http://schemas.microsoft.com/office/powerpoint/2010/main" val="1592819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863A7-F211-43E2-AF1B-B3B02C0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079CD-5A03-4F94-A34C-49E7E55D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334000" y="4857750"/>
            <a:ext cx="10001250" cy="85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9A534-50BF-4B25-B789-85B05D9C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6096000"/>
            <a:ext cx="11430000" cy="104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EDF0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45482c546497f"/>
          <a:stretch xmlns:a="http://schemas.openxmlformats.org/drawingml/2006/main"/>
        </p:blipFill>
        <p:spPr>
          <a:xfrm xmlns:a="http://schemas.openxmlformats.org/drawingml/2006/main">
            <a:off x="419100" y="3619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D7587-5EC2-429F-8EE1-F24933D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3DA02-D746-459A-8AAE-62E6508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276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NUMPY 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EB60E-AC34-44B0-90CD-88338675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962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What arrays are, how to create them, and why their structure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56619-EEA2-433A-98E5-1CB13856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89535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0129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23D52-54B1-468F-A1D1-6B9E6649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59E28-DDE1-419B-938F-E68188F2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6B901-5DFA-4F7F-B83B-F0CF2DF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4C268-6131-4F64-920A-A314EFBF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6994ab9a947fa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DD5B8-B9E1-4FA9-AF54-86F13C1A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D1D53-C829-463F-BBD8-DC918DA6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A47C4-5594-42BC-B166-CCB88E0A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WHY NUMPY MATTERS IN 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DB35C-20DF-404A-A134-5F86EB8A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Numerical work becomes clear when data lives in an ndarray.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E8525-C3C3-4671-980A-0F2E548F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Python lists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A9484-E41B-4590-9524-4F58386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NumPy arrays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66F0F-0351-4B13-93B4-3AAF78E6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8575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B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3F1D5-8083-45D5-8033-EBED440B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638175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Mixed types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Loop-based numerical work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References to objects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Good for general-purpose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FADC6-8D9C-42E2-AEBE-4CD8F28D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638175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One dtype per array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Vectorized numerical operations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Compact array storage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Designed for multidimensional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29CA7-3F92-4FB4-A4FE-AE48ACB6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572375"/>
            <a:ext cx="11430000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py = [1, 2, 3, 4]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arr = np.array([1, 2, 3, 4])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[x * 2 for x in py]   # [2, 4, 6, 8]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arr * 2                # [2 4 6 8]</a:t>
            </a:r>
          </a:p>
        </p:txBody>
      </p:sp>
    </p:spTree>
    <p:extLst>
      <p:ext uri="{BB962C8B-B14F-4D97-AF65-F5344CB8AC3E}">
        <p14:creationId xmlns:p14="http://schemas.microsoft.com/office/powerpoint/2010/main" val="383177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AE29B-8231-4AF9-98A8-8D82BEBA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8E797-6B88-4294-B2AF-2CC9A6E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AEDC0-5443-428C-8EF6-3618D4F8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2166C-3AA9-40B0-BE61-726E5669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b363293154772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19B8B-1077-47C2-8634-94070D65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9B87F-2E0B-42AC-B9D5-DA87ABDA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72195-99DA-40B8-BD3C-55DEED87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CREATING ARRAYS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D6F9D-0FB0-4BF3-95E1-BD64FB9B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Syntax choices depend on the structure you need.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FE9B1-1ED6-4573-975D-4EB6588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8001000" cy="4572000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np.array([10, 20, 30])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zeros = np.zeros((2, 3))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ones  = np.ones((2, 3))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filled = np.full((2, 3), 7)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seq   = np.arange(0, 10, 2)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grid  = np.linspace(0, 1, 5)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DE6AD-737B-43E2-BBCB-CF46FFBD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1CE25-62ED-4D93-A65A-64F01110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90875"/>
            <a:ext cx="64770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zeros → [[0. 0. 0.]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     [0. 0. 0.]]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seq   → [0 2 4 6 8]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grid  → [0.   0.25 0.5  0.75 1. 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C758A-9A13-47C3-B137-04CE4ACC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7627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72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connection: zeros can initialize a numeric buffer; linspace creates evaluation grids.</a:t>
            </a:r>
          </a:p>
        </p:txBody>
      </p:sp>
    </p:spTree>
    <p:extLst>
      <p:ext uri="{BB962C8B-B14F-4D97-AF65-F5344CB8AC3E}">
        <p14:creationId xmlns:p14="http://schemas.microsoft.com/office/powerpoint/2010/main" val="1724753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9F14E-0D8B-4877-AE94-D8096B14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F9E8F-09A0-4059-A7A2-C3DEE4D6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31AD0-6585-41F9-B3AB-A7A1979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521CD-2507-4F78-AAFB-62E5050F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5bf093d7f405e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09EEF-B83E-4EFE-8D63-0FF92D5D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0DAAB-7BFC-49AB-91F8-0F23653B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87A27-B3A9-455F-961F-0444631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DIMENSIONS AND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00061-C7D3-447C-B11F-BC640B8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The same numbers can represent a vector, a table, or a tensor.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81A46-C1AE-4BE2-859E-F74BB7DA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67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1D vector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F4087-1A29-43CC-8C1C-CA8A7D27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4095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[1 2 3]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shape: (3,)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407A5-1403-4CCB-8408-883030CE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2D 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A6496-8E1F-4873-AFCB-A700A7A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5720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[[1 2 3]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[4 5 6]]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shape: (2, 3)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5F966-7E55-4833-8FA1-AD181CF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3D tensor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371C9-9F66-4EE4-AD40-61BA468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90875"/>
            <a:ext cx="4572000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[[[1 2] [3 4]]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[[5 6] [7 8]]]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shape: (2, 2, 2)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AE7F3-17F8-4D9A-9805-C9E706D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2390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94"/>
          </a:bodyPr>
          <a:lstStyle xmlns:a="http://schemas.openxmlformats.org/drawingml/2006/main"/>
          <a:p xmlns:a="http://schemas.openxmlformats.org/drawingml/2006/main">
            <a:r>
              <a:t>Inspect the array: ndim = 2 • shape = (2, 3) • size = 6 • dtype = int</a:t>
            </a:r>
          </a:p>
        </p:txBody>
      </p:sp>
    </p:spTree>
    <p:extLst>
      <p:ext uri="{BB962C8B-B14F-4D97-AF65-F5344CB8AC3E}">
        <p14:creationId xmlns:p14="http://schemas.microsoft.com/office/powerpoint/2010/main" val="1595817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5C041-CE13-4E82-9A46-1387D7A0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87AFF-AB29-44C5-B4E0-75B6B36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6B623-6C90-44FC-8275-87F00FC4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2A9B6-E953-4D86-93E1-1DA0903A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2e9b65ea14b1f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A089F-7958-4953-A260-66C83E8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85C96-F7E4-4E65-955B-E4B04B2A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3A815-0280-4919-A754-0C4D3FA8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INSPECTING AN NDARRAY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20972-DD5F-41B8-B931-98E13D22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Check these attributes before applying an ML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857AB-2E48-4579-9B52-8AB60395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7905750" cy="419100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x = np.array([[1, 2, 3],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          [4, 5, 6]])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print(x.ndim)   # 2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print(x.shape)  # (2, 3)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print(x.size)   # 6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print(x.dtype)  # platform-dependent integer dtype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E5DF8-0952-4C89-B969-CBC24BC9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622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Attribute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F5561-A6AA-4CD1-AC22-F9E8DD19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7622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A2CEA-EFED-4AE4-AB3B-A47BC26A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290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ndim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9027D-2E2A-45E2-814C-8EDF07FC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4290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number of axes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CCAF7-B9C8-4328-941A-E29CA413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shape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CFAC6-2424-4A70-B3C4-2A26A6CE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862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length along each axis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76997-C94A-485E-BAF8-5728994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0122F-D4BD-47DD-BA3F-61F33CB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143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total elements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8F3E0-9E73-4714-AEA3-C6562F73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00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dtype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505B3-D4BD-4BA6-A677-DF4B045B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0007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stored value type</a:t>
            </a:r>
          </a:p>
        </p:txBody>
      </p:sp>
    </p:spTree>
    <p:extLst>
      <p:ext uri="{BB962C8B-B14F-4D97-AF65-F5344CB8AC3E}">
        <p14:creationId xmlns:p14="http://schemas.microsoft.com/office/powerpoint/2010/main" val="2025328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DF638-1AC0-4793-B43C-B6B5EC0D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70EFE-BA96-4B0A-9452-D130804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334000" y="4857750"/>
            <a:ext cx="10001250" cy="85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D1ECC-CE68-413A-8D07-85612510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6096000"/>
            <a:ext cx="11430000" cy="104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EDF0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c8a097ef2475c"/>
          <a:stretch xmlns:a="http://schemas.openxmlformats.org/drawingml/2006/main"/>
        </p:blipFill>
        <p:spPr>
          <a:xfrm xmlns:a="http://schemas.openxmlformats.org/drawingml/2006/main">
            <a:off x="419100" y="3619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22708-5334-4C41-A3CB-34D5061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1DAAC-8D8E-45B5-ADED-6F29C134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276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WORKING WITH ARRAYS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73E6C-8211-4C58-B081-F5C085E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962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Select, transform, summarize, and rearrange numerical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2B464-FA72-43A9-8D90-815E700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89535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811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A7B37-466D-4A3A-BC92-03C585B6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2E1D0-EF57-4599-B6EE-087DA2E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61ECA-EE69-42C2-B578-E3ACDF24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42144-85A1-40AC-9BF8-AA3327A2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d0605125943c0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61270-C852-4FDE-ADE5-6640C084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WORKING WITH ARRAYS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FBE12-0D66-42B2-90B6-A34F503D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96C8C-3246-43EE-ABA7-ADF616BD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INDEXING AND SLICING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9DCE8-7E80-4BFF-B8D9-ECD24C0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Use row-first indexing for 2D feature matrices.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DADF-2454-4C65-A803-1FF3A324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8858250" cy="514350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 = np.array([[10, 20, 30],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          [40, 50, 60],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          [70, 80, 90]])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m[1, 2]      # 60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m[0]         # [10 20 30]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m[:, 1]      # [20 50 80]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m[0:2, 1:3] # [[20 30]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        #  [50 60]]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2E376-93E2-439F-8A83-3F856876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62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Reading patterns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213EE-046F-42A8-99C1-0774963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381375"/>
            <a:ext cx="504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• Indexing starts at 0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• Negative indices count from the end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• Slice stop is excluded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• : means all positions on that axis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57093-C593-469D-8134-425E397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675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725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ML connection: X[:, j] extracts one feature column.</a:t>
            </a:r>
          </a:p>
        </p:txBody>
      </p:sp>
    </p:spTree>
    <p:extLst>
      <p:ext uri="{BB962C8B-B14F-4D97-AF65-F5344CB8AC3E}">
        <p14:creationId xmlns:p14="http://schemas.microsoft.com/office/powerpoint/2010/main" val="623976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1EAF6-32D0-4DA6-B883-3FCBD5DE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D4951-7E40-4B47-BD6A-D294CD1E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489C7-C1C7-446F-8C1A-913F522A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9C5A9-DBD3-4146-AC9B-AFFA4797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fefcf7a54414d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3A17E-29DA-4208-B835-B3E1C676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WORKING WITH ARRAYS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2FFA9-1980-4D9D-944F-0F852F8A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67D97-7F99-4EE5-8A0A-FC54C7E2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ELEMENT-WISE OPERATIONS AND UFUNCS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552D8-5CDF-48C2-9AF9-CC480089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Arithmetic applies position by position unless you use matrix multiplication.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B2068-3DD7-4A68-A8A9-A6C25BF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7239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np.array([1, 4, 9])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b = np.array([10, 20, 30])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+ b        # [11 24 39]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* b        # [10 80 270]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** 2       # [ 1 16 81]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np.sqrt(a)   # [1. 2. 3.]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np.abs([-2, 3])  # [2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56D03-CAB0-4885-A084-F118C8E6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Common ufuncs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C7A09-8C6D-424F-AE03-39B37E8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81375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sqrt   abs   exp</a:t>
            </a:r>
          </a:p>
          <a:p xmlns:a="http://schemas.openxmlformats.org/drawingml/2006/main">
            <a:pPr>
              <a:def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log    sin   cos</a:t>
            </a:r>
          </a:p>
          <a:p xmlns:a="http://schemas.openxmlformats.org/drawingml/2006/main">
            <a:pPr>
              <a:def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power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B87E5-826E-4033-8817-F28C06E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102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connection: vectorization applies the same preprocessing step to every observation without a Python loop.</a:t>
            </a:r>
          </a:p>
        </p:txBody>
      </p:sp>
    </p:spTree>
    <p:extLst>
      <p:ext uri="{BB962C8B-B14F-4D97-AF65-F5344CB8AC3E}">
        <p14:creationId xmlns:p14="http://schemas.microsoft.com/office/powerpoint/2010/main" val="496080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35393-15C2-43F5-BCF0-810343C4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CE776-0679-48EE-A135-E155DC7C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EF4E-6594-46E7-BA62-BF45307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A4A45-48F6-4C3D-BF82-E84F091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9b181ca7d4a5f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CDB3E-4085-46B5-AF82-B9B6B88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WORKING WITH ARRAYS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22CEA-61E7-4639-A7A8-8EFA1A7E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2D027-E795-4278-88C3-DF142103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STATISTICAL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A9F09-C89C-44FB-9E9F-990B06DC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The named axis disappears from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513A7-9477-4979-89D1-81BECE8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7143750" cy="438150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scores = np.array([[10, 20, 30],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               [40, 50, 60]])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scores.mean()          # 35.0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scores.sum(axis=0)     # [50 70 90]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scores.sum(axis=1)     # [ 60 150]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scores.mean(axis=0)    # [25. 35. 45.]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FD6DB-DC2D-446B-B2EE-955622C6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0375"/>
            <a:ext cx="5715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4DB1C-8EBE-414A-A2AA-B1577856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axis=0  ↓  column-wise</a:t>
            </a:r>
          </a:p>
          <a:p xmlns:a="http://schemas.openxmlformats.org/drawingml/2006/main">
            <a:pPr>
              <a:def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rows collapse, one answer per feature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D1C11-4FAB-4C9A-9865-02F44E21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8D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CB377-8A06-4EC4-8D3E-6448EF39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4362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72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axis=1  →  row-wise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columns collapse, one answer per sample</a:t>
            </a:r>
          </a:p>
        </p:txBody>
      </p:sp>
    </p:spTree>
    <p:extLst>
      <p:ext uri="{BB962C8B-B14F-4D97-AF65-F5344CB8AC3E}">
        <p14:creationId xmlns:p14="http://schemas.microsoft.com/office/powerpoint/2010/main" val="5597537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68BA0-368F-44E7-88A0-9C1D4A67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C11B5-1EDE-48C9-B314-2AB533A2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B58C5-12FD-4EB9-96F4-29FCD646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140EE-FEC5-4DA3-B3E4-D6CE6AC8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12d97f6994220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58C9B-152C-4B6D-9918-1F5E769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WORKING WITH ARRAYS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C00B0-7D0A-4133-9855-49089F97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0FC17-B742-4E61-90F8-684C7BC5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RESHAPE, FLATTEN, RAVEL, TRANSPOSE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2F761-42CC-4959-8C03-3197FC13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Change layout while preserving the same underlying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FEBB6-FEE2-4AAA-855B-4D62BB73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14625"/>
            <a:ext cx="9048750" cy="4667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np.arange(1, 7)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 = a.reshape(2, 3)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m.reshape(3, -1)  # [[1 2] [3 4] [5 6]]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m.flatten()        # [1 2 3 4 5 6]  copy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m.ravel()          # [1 2 3 4 5 6]  view if possible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m.T                # [[1 4] [2 5] [3 6]]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29785-B20C-4B75-AAA6-CB801AB9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857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Shape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4BF83-147C-4983-A682-483CB33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2900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 × 3 = 6</a:t>
            </a:r>
          </a:p>
          <a:p xmlns:a="http://schemas.openxmlformats.org/drawingml/2006/main">
            <a:pPr>
              <a:def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3 × 2 =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Total elements must remain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87A48-C012-418C-8880-60286660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67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725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ML connection: models often require a precise sample-by-feature shape.</a:t>
            </a:r>
          </a:p>
        </p:txBody>
      </p:sp>
    </p:spTree>
    <p:extLst>
      <p:ext uri="{BB962C8B-B14F-4D97-AF65-F5344CB8AC3E}">
        <p14:creationId xmlns:p14="http://schemas.microsoft.com/office/powerpoint/2010/main" val="365877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02A44-0118-4669-964C-21E4914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00C2-AA8E-4833-9FA8-1C35A6D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334000" y="4857750"/>
            <a:ext cx="10001250" cy="85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7E867-BAD3-43AD-A477-1902C8BE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6096000"/>
            <a:ext cx="11430000" cy="104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EDF0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d88ca33534eb5"/>
          <a:stretch xmlns:a="http://schemas.openxmlformats.org/drawingml/2006/main"/>
        </p:blipFill>
        <p:spPr>
          <a:xfrm xmlns:a="http://schemas.openxmlformats.org/drawingml/2006/main">
            <a:off x="419100" y="3619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5B494-B632-4F04-91A1-2F34FDF2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86D76-F61C-4606-8EED-E9C10299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276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ARRAY MANIPULATION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BC59C-D156-43CA-AFDD-004B3DF2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962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Combine, split, filter, select, and broadcast arrays safely.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76812-03A1-4BE5-8FAC-0CD52527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89535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33613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D42E7-5CD9-4FD6-80CD-308C3E6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86B8E-8E15-4829-B3AD-4AA6551D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85131-94E0-4D78-AFDE-21333D5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FF339-8955-4F76-B84B-0445955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bb96e4bfe46da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D9AA6-8931-489A-8ECE-A9BECE76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ARRAY MANIPULATION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CF6DC-0859-429B-9ACA-3A2CAFF0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7CAA7-F8D6-4299-B7B4-5B4AFAB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CONCATENATION AND STACKING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7BE0C-438E-48AF-AC9A-740F214D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Join existing axes or create a new 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06DE2-9BFC-48EE-AB46-FEFCA793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67000"/>
            <a:ext cx="9810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np.array([[1, 2], [3, 4]])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b = np.array([[5, 6], [7, 8]])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np.concatenate([a, b], axis=0)  # shape (4, 2)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np.concatenate([a, b], axis=1)  # shape (2, 4)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np.vstack([a, b])               # shape (4, 2)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np.hstack([a, b])               # shape (2, 4)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np.stack([a, b], axis=0)        # shape (2, 2, 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4052E-E3CB-4387-B38A-E0A84038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57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Compatibility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7C868-B156-4E7E-80F7-1F64825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76625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All non-joined axes must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connection: combine feature blocks or stack a mini-batch into a new axis.</a:t>
            </a:r>
          </a:p>
        </p:txBody>
      </p:sp>
    </p:spTree>
    <p:extLst>
      <p:ext uri="{BB962C8B-B14F-4D97-AF65-F5344CB8AC3E}">
        <p14:creationId xmlns:p14="http://schemas.microsoft.com/office/powerpoint/2010/main" val="21338901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A1B10-F180-4A08-AF10-3B8DB0DC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76C4A-4902-45C9-B551-8CE1E342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F18BD-2B4F-4737-881A-B789F26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B2491-045B-4C8E-A3C3-3E78D694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7676c403e4a5f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D63E7-A36A-4E37-B1AA-BDF2AF72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ARRAY MANIPULATION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96712-1713-4468-9B1C-8D73A114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90183-CD79-4C4D-AA7E-3875092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SPLITTING ARRAYS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14D23-028D-4C3F-B847-515211E3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Split equally when possible; use array_split when sizes can differ.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B8FFD-FCFD-4FCB-AF92-90B1648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9906000" cy="419100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np.arange(8)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np.split(a, 2)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# [array([0, 1, 2, 3]), array([4, 5, 6, 7])]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np.array_split(a, 3)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# [array([0, 1, 2]), array([3, 4, 5]), array([6, 7])]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np.vsplit(matrix, 2)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np.hsplit(matrix, 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73079-6ED1-4925-A394-6185B11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952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ML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06013-31C0-4821-9292-1423FF08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571875"/>
            <a:ext cx="381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Use slices for batches, or split matrices by row and column when processing data blocks.</a:t>
            </a:r>
          </a:p>
        </p:txBody>
      </p:sp>
    </p:spTree>
    <p:extLst>
      <p:ext uri="{BB962C8B-B14F-4D97-AF65-F5344CB8AC3E}">
        <p14:creationId xmlns:p14="http://schemas.microsoft.com/office/powerpoint/2010/main" val="18926401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72237-16E7-4B91-9959-C0307155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C873F-C615-4A16-AE19-D3F547AF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4E7B6-63BD-422F-9A71-1786693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19793-411A-4B29-AD64-47EE27F6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f7e5cc62d4184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25319-154C-4881-8617-DA09AAE7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ARRAY MANIPULATION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47456-0772-462F-B045-2403187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D954A-DCB2-4D36-B0F1-BF6D9CA8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BOOLEAN MASKS AND FANCY INDEXING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1C9AE-3A80-4AB4-843A-1B5F15C9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 mask answers “which values?”; integer indices answer “which positions?”.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14567-87ED-4C0B-84FB-A6B85A92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85725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np.array([2, 7, 4, 9, 1])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mask = a &gt;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mask           # [False  True False  True False]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a[mask]        # [7 9]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a[(a &gt; 2) &amp; (a &lt; 9)]  # [7 4]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a[[0, 2, 4]]  # [2 4 1]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59324-2487-4973-BCC9-D3E221D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43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50897-62C0-467E-83E7-88B200A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3143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Boolean mask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FB329-A2E0-49E2-A241-2091914F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62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 &gt;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5F936-EC8B-4923-9720-4298FAF3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3762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[F T F T F]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1802F-DD75-4F0A-90A1-0C10268E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ML connection: filter invalid records, select feature subsets, and construct labels.</a:t>
            </a:r>
          </a:p>
        </p:txBody>
      </p:sp>
    </p:spTree>
    <p:extLst>
      <p:ext uri="{BB962C8B-B14F-4D97-AF65-F5344CB8AC3E}">
        <p14:creationId xmlns:p14="http://schemas.microsoft.com/office/powerpoint/2010/main" val="612768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86A26-9D6A-44EB-B02A-6F3EAAA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20ECC-6EB7-46C8-8ADA-32C9ED5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BC229-5DEA-4991-AF24-5E6823C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507E9-D736-47C4-A8E2-2777F9A1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7de8faa214ff4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E5930-09B7-45E8-B678-7241883F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ARRAY MANIPULATION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21AF8-BB98-46D4-B72E-72421223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67B6D-D4AF-4A43-972C-82AF4B18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BROADCASTING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B4AA6-3218-4C6D-B95F-65655947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NumPy compares shapes from right to left.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4AEB4-A79A-4D84-81F3-F878FC7F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74295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np.array([[1, 2, 3],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          [4, 5, 6]])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b = np.array([10, 20, 30])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A.shape       # (2, 3)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b.shape       # (3,)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+ b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# [[11 22 33]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#  [14 25 36]]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FC81D-2CAF-47EE-A351-A17D8AFD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14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Compatibility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0B5B1-702B-44E1-A035-6202FED2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Each aligned dimension must match, or one dimension must be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B8782-4611-4998-AA58-885EB389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10125"/>
            <a:ext cx="5715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(2, 3) + (3,)   ✓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(2, 3) + (2, 1) ✓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(2, 3) + (2, 2) ✗</a:t>
            </a:r>
          </a:p>
        </p:txBody>
      </p:sp>
    </p:spTree>
    <p:extLst>
      <p:ext uri="{BB962C8B-B14F-4D97-AF65-F5344CB8AC3E}">
        <p14:creationId xmlns:p14="http://schemas.microsoft.com/office/powerpoint/2010/main" val="5807288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886F3-E5D8-477E-93F1-ECC15D8C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D1FBD-6873-4535-B69C-F03D0370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C99AA-0227-4D6F-944B-E3BEAFD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670E7-C6B0-4D58-86D8-439C0437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a818d801a4d41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75CCE-796F-45D9-845B-14AE5D0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ARRAY MANIPULATION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F67B3-D5B6-46E0-9BCF-DC313606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E51F1-3BF1-4638-B764-D63EB8E5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COPIES, VIEWS, AND DTYPES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45F8B-AC53-4933-9CEF-278CBE57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Know when edits share memory and when conversions create a new array.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A48D6-58EA-44CD-90A4-C1751190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Copy and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9E9C8-F08B-4953-9721-6069898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Dtype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436C6-8B54-4DB2-A533-E59AA78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8575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B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C3468-44BC-421D-9688-410DF29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638175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b = a.copy()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b[0] = 99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Original remains unchanged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v = a.view()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v[0] = 99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Original may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740FB-DD6D-4E66-B718-C43E48A9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638175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x = np.array([1.9, 2.1])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x.astype(int)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# [1 2]  truncates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np.array([1,2,3], dtype=np.float32)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BDE98-DBB0-4C72-99CC-FBBA6C0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715250"/>
            <a:ext cx="1352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ML connection: choose float32 when memory and library compatibility matter; avoid accidental mutations through views.</a:t>
            </a:r>
          </a:p>
        </p:txBody>
      </p:sp>
    </p:spTree>
    <p:extLst>
      <p:ext uri="{BB962C8B-B14F-4D97-AF65-F5344CB8AC3E}">
        <p14:creationId xmlns:p14="http://schemas.microsoft.com/office/powerpoint/2010/main" val="45929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34770-F6AD-46BF-B38C-0F7A42D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089BB-67E8-417E-92CE-FDE5162D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B7FEE-61AD-480E-8C99-E6667D08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E1894-F08C-42B3-88B7-2935AD7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e0a3b199d48d0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5186D-02D0-4E33-994F-BF0794D9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ARRAY MANIPULATION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9841F-5BCF-4992-BBB8-51BFCA3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631FA-5529-4D0B-AC5A-F2A6B5F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SORTING AND SEARCHING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C9DD6-E032-4CCA-9E3D-F013F975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Sort values, keep sort indices, and find positions that meet a condition.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8B08E-926F-4F33-8344-11444BA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8286750" cy="4381500"/>
          </a:xfrm>
          <a:prstGeom xmlns:a="http://schemas.openxmlformats.org/drawingml/2006/main" prst="roundRect">
            <a:avLst>
              <a:gd name="adj" fmla="val 3043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np.array([40, 10, 30, 20])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np.sort(a)    # [10 20 30 40]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np.argsort(a) # [1 3 2 0]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np.argmin(a)  # 1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np.argmax(a)  # 0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np.where(a &gt; 25)  # (array([0, 2]),)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B14D5-6957-4990-B168-372159BF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52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ML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576E1-75B7-4B27-8536-6B9BD3B1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6195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Rank model scores, inspect extreme values, and locate records needing attention.</a:t>
            </a:r>
          </a:p>
        </p:txBody>
      </p:sp>
    </p:spTree>
    <p:extLst>
      <p:ext uri="{BB962C8B-B14F-4D97-AF65-F5344CB8AC3E}">
        <p14:creationId xmlns:p14="http://schemas.microsoft.com/office/powerpoint/2010/main" val="2886657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0F2B7-7F2D-4C6F-8BC8-4A183EAF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67536-F8E9-4F75-B8EA-BF613F4F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334000" y="4857750"/>
            <a:ext cx="10001250" cy="85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D3E73-090B-41C0-86C5-91CCB689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6096000"/>
            <a:ext cx="11430000" cy="104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EDF0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e65ce61754f87"/>
          <a:stretch xmlns:a="http://schemas.openxmlformats.org/drawingml/2006/main"/>
        </p:blipFill>
        <p:spPr>
          <a:xfrm xmlns:a="http://schemas.openxmlformats.org/drawingml/2006/main">
            <a:off x="419100" y="3619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72219-95DD-4D54-9F46-CDA41C6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915D9-9C06-4B15-85CA-E8D50AC2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276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NUMPY FOR MACHINE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42DEB-5950-46BF-A604-0D000774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962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Statistics, random sampling, linear algebra, and preprocessing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2F8BD-8D07-4020-88B0-993F20A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89535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62503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CD5A5-A6DB-419B-A30F-E00D7697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0CA81-BD98-4C04-9270-E5B6668A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E2C57-B239-4CA2-83DA-6BF7A6B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88FF3-BA84-442E-AB5F-6C3E772E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af3b9be4843e8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FC28D-C53C-44B3-8829-F8986ADF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B7D68-C77F-4A20-A2B8-CD3C79D1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6FF8C-33D4-4D41-9AEC-F9A8C36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MATH AND STATISTICS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567BF-BC74-4E99-B315-E5477F99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Summary statistics describe a feature before a model sees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C0563-44F8-4F43-A7B5-B63069F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8096250" cy="4667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x = np.array([1, 2, 3, 4, 5])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np.mean(x)    # 3.0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np.median(x)  # 3.0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np.std(x)     # 1.41421356...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np.var(x)     # 2.0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np.min(x), np.max(x), np.sum(x)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# (1, 5, 15)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B1DB0-8281-4A8C-A8F9-BD184AB6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More ufuncs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9B645-60D0-48D7-88FB-597042E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3619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np.sqrt(x)</a:t>
            </a:r>
          </a:p>
          <a:p xmlns:a="http://schemas.openxmlformats.org/drawingml/2006/main">
            <a:pPr>
              <a:def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np.exp(x)</a:t>
            </a:r>
          </a:p>
          <a:p xmlns:a="http://schemas.openxmlformats.org/drawingml/2006/main">
            <a:pPr>
              <a:def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np.log(x)</a:t>
            </a:r>
          </a:p>
          <a:p xmlns:a="http://schemas.openxmlformats.org/drawingml/2006/main">
            <a:pPr>
              <a:def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np.power(x, 2)</a:t>
            </a:r>
          </a:p>
          <a:p xmlns:a="http://schemas.openxmlformats.org/drawingml/2006/main">
            <a:pPr>
              <a:def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02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np.abs(x)</a:t>
            </a:r>
          </a:p>
        </p:txBody>
      </p:sp>
    </p:spTree>
    <p:extLst>
      <p:ext uri="{BB962C8B-B14F-4D97-AF65-F5344CB8AC3E}">
        <p14:creationId xmlns:p14="http://schemas.microsoft.com/office/powerpoint/2010/main" val="11480206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C305D-4A8F-4882-8693-15524B18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E9080-C448-4E67-841F-FAA80E3A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8A44E-59D9-4275-BC21-F70C6D82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6A66A-D20A-4E34-A993-15411C87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d9ccb105a478a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724F4-925B-4E2E-8800-C3336761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DC6D1-8085-41B4-A32B-BB339292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6C585-DA22-4606-9A18-94AD238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RANDOM NUMBERS AND SAMPLING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63AE2-B112-44F8-826A-713E85C9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Use a fixed seed when an example or experiment must be repeatable.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15684-89D6-49A7-BA09-7F44177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810750" cy="4667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latin typeface="Open Sauce"/>
              </a:rPr>
              <a:t>np.random.seed(42)</a:t>
            </a:r>
          </a:p>
          <a:p xmlns:a="http://schemas.openxmlformats.org/drawingml/2006/main">
            <a:r>
              <a:rPr sz="1500">
                <a:latin typeface="Open Sauce"/>
              </a:rPr>
              <a:t/>
            </a:r>
          </a:p>
          <a:p xmlns:a="http://schemas.openxmlformats.org/drawingml/2006/main">
            <a:r>
              <a:rPr sz="1500">
                <a:latin typeface="Open Sauce"/>
              </a:rPr>
              <a:t>np.random.rand(3)          # uniform values in [0, 1)</a:t>
            </a:r>
          </a:p>
          <a:p xmlns:a="http://schemas.openxmlformats.org/drawingml/2006/main">
            <a:r>
              <a:rPr sz="1500">
                <a:latin typeface="Open Sauce"/>
              </a:rPr>
              <a:t>np.random.randn(3)         # normal (mean=0, std=1)</a:t>
            </a:r>
          </a:p>
          <a:p xmlns:a="http://schemas.openxmlformats.org/drawingml/2006/main">
            <a:r>
              <a:rPr sz="1500">
                <a:latin typeface="Open Sauce"/>
              </a:rPr>
              <a:t>np.random.randint(1, 10, 3) # integers [1, 9]</a:t>
            </a:r>
          </a:p>
          <a:p xmlns:a="http://schemas.openxmlformats.org/drawingml/2006/main">
            <a:r>
              <a:rPr sz="1500">
                <a:latin typeface="Open Sauce"/>
              </a:rPr>
              <a:t>np.random.choice(5, 3)     # random choice from range</a:t>
            </a:r>
          </a:p>
          <a:p xmlns:a="http://schemas.openxmlformats.org/drawingml/2006/main">
            <a:r>
              <a:rPr sz="1500">
                <a:latin typeface="Open Sauce"/>
              </a:rPr>
              <a:t/>
            </a:r>
          </a:p>
          <a:p xmlns:a="http://schemas.openxmlformats.org/drawingml/2006/main">
            <a:r>
              <a:rPr sz="1500">
                <a:latin typeface="Open Sauce"/>
              </a:rPr>
              <a:t>arr = np.arange(5)</a:t>
            </a:r>
          </a:p>
          <a:p xmlns:a="http://schemas.openxmlformats.org/drawingml/2006/main">
            <a:r>
              <a:rPr sz="1500">
                <a:latin typeface="Open Sauce"/>
              </a:rPr>
              <a:t>np.random.shuffle(arr)     # modifies arr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FDBC9-33D0-4227-A59D-D6E79089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52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ML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422BD-A5D1-43F1-9AF6-963A7D31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61950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Sampling supports train/test selection, simulations, and randomized 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11772933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123CD-5D8D-4A77-95BB-9AF4A1C1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F9B39-BADD-44A4-B693-F79854AE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6493C-3DDE-443C-B29A-AC30D21E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3607C-9B5E-42A2-ACD5-FC4D600C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95c009db14e06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CF4E7-283E-4A07-83B0-38F8A459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997A6-6821-4E26-BC1B-F59F6291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F33DA-2210-454A-B5CF-130138E9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LINEAR ALGEBRA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32C66-6160-4D0F-976C-D107EB58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Matrix and vector operations are the computational core of many models.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5C934-4A54-492B-A004-C50F770E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9048750" cy="495300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np.array([[3, 1], [1, 2]])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b = np.array([9, 8])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np.linalg.solve(A, b)  # [2. 3.]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np.linalg.det(A)       # 5.0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np.linalg.inv(A)       # inverse matrix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np.linalg.trace(A)     #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vals, vecs = np.linalg.eig([[2, 0], [0, 3]])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# vals: [2. 3.]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08DF6-FBCE-4D28-A2B5-79BE2376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ML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AC0E9-EB37-4D46-819A-41965317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Regression, PCA, and neural networks use vectors and matrices throughout their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8795463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D1C42-27E8-48E3-8E83-1DEEAF3E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3C728-4ADC-419D-BE41-72FBBC52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E1EF4-6EB2-430A-A3E9-ACF3904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FE908-304C-4F69-A075-2EA8692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c6ad4ae054a73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FE72F-F620-4A63-B0CE-B054EB0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8A543-7E04-4147-B66E-7BFAAB52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4F916-52DC-4F69-B7D9-3A816981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DOT PRODUCT AND MATRIX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5D1BF-450C-42B9-897B-93F426DE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Element-wise multiplication and matrix multiplication answer different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E790B-D400-4319-B6F9-A80AB03E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9429750" cy="5334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= np.array([[1, 2], [3, 4]])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B = np.array([[5, 6], [7, 8]])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* B   # [[ 5 12] [21 32]]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A @ B   # [[19 22] [43 50]]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X = np.array([[1, 2], [3, 4], [5, 6]])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w = np.array([0.5, 2.0])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X @ w + 1  # [ 5.5 10.5 15.5]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7AB6F-0DAD-4690-A921-A2C37A59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003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Shape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FE332-442B-4D23-A2A3-BDEBAB5B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718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225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(m, n) @ (n, p)</a:t>
            </a:r>
          </a:p>
          <a:p xmlns:a="http://schemas.openxmlformats.org/drawingml/2006/main">
            <a:pPr>
              <a:defRPr sz="225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225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→ (m, p)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8CA9E-D49A-409A-9548-1842F26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912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72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connection: X @ w + b produces one linear prediction per sample.</a:t>
            </a:r>
          </a:p>
        </p:txBody>
      </p:sp>
    </p:spTree>
    <p:extLst>
      <p:ext uri="{BB962C8B-B14F-4D97-AF65-F5344CB8AC3E}">
        <p14:creationId xmlns:p14="http://schemas.microsoft.com/office/powerpoint/2010/main" val="2043889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CFE81-E832-4150-9F6B-0E4C761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96562-1224-43FF-BF9B-092702F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C742C-5A51-439E-85DD-C2E2DE69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50E33-800A-4034-83D1-CA9E3A8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f69727ca04447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ADD13-E324-424A-BD76-B7DE5CFB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A1470-AE57-45EC-BDA6-EB302AA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9AF4D-9526-4D76-8560-5C88B7E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MISSING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F1A41-2FF0-487E-B82E-0A494888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Detect missing values and replace or filter them using masks.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1C7FE-5BBC-462E-9F37-6DDEFD7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10287000" cy="514350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data = np.array([25., 30., np.nan, 40.])</a:t>
            </a:r>
          </a:p>
          <a:p xmlns:a="http://schemas.openxmlformats.org/drawingml/2006/main"/>
          <a:p xmlns:a="http://schemas.openxmlformats.org/drawingml/2006/main">
            <a:r>
              <a:t>mask = np.isnan(data)</a:t>
            </a:r>
          </a:p>
          <a:p xmlns:a="http://schemas.openxmlformats.org/drawingml/2006/main">
            <a:r>
              <a:t>data[mask] = 0</a:t>
            </a:r>
          </a:p>
          <a:p xmlns:a="http://schemas.openxmlformats.org/drawingml/2006/main"/>
          <a:p xmlns:a="http://schemas.openxmlformats.org/drawingml/2006/main">
            <a:r>
              <a:t># [25. 30.  0. 40.]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105F0-6D9F-4F41-A4DD-AADA648B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57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75">
                <a:latin typeface="Open Sauce"/>
              </a:rPr>
              <a:t>Missing-value helpers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DD37E-B9A5-47B8-9AC7-2EF3A31D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7662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np.isnan(arr)</a:t>
            </a:r>
          </a:p>
          <a:p xmlns:a="http://schemas.openxmlformats.org/drawingml/2006/main">
            <a:r>
              <a:t>np.nan_to_num(arr)</a:t>
            </a:r>
          </a:p>
          <a:p xmlns:a="http://schemas.openxmlformats.org/drawingml/2006/main"/>
          <a:p xmlns:a="http://schemas.openxmlformats.org/drawingml/2006/main">
            <a:r>
              <a:t>Use Boolean masks to filter or replace values.</a:t>
            </a:r>
          </a:p>
        </p:txBody>
      </p:sp>
    </p:spTree>
    <p:extLst>
      <p:ext uri="{BB962C8B-B14F-4D97-AF65-F5344CB8AC3E}">
        <p14:creationId xmlns:p14="http://schemas.microsoft.com/office/powerpoint/2010/main" val="4245127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1FAAF-B15C-4C02-8CEB-F317948D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1D091-31DD-4019-A36F-8CD661C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72806-D821-4F8B-85EF-EFE62ADD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C237A-5E12-4DD8-BDAD-D16CCB3B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37acf1b31450b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46579-DFF0-4DBB-8FA3-0A634A78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2946C-F2AE-4844-9F1E-6517B91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1D87C-15BB-4DAB-B831-E15B5E9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VECTORIZATION AND BATCH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54B57-F12B-49ED-9B87-7C8E42AB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Process whole arrays, then use slices when memory or training requires batches.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AC40-38C8-4422-A42C-5E99456F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0012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latin typeface="Open Sauce"/>
              </a:rPr>
              <a:t># Vectorized feature transform</a:t>
            </a:r>
          </a:p>
          <a:p xmlns:a="http://schemas.openxmlformats.org/drawingml/2006/main">
            <a:r>
              <a:rPr sz="1500">
                <a:latin typeface="Open Sauce"/>
              </a:rPr>
              <a:t>result = x * 2 + 1</a:t>
            </a:r>
          </a:p>
          <a:p xmlns:a="http://schemas.openxmlformats.org/drawingml/2006/main">
            <a:r>
              <a:rPr sz="1500">
                <a:latin typeface="Open Sauce"/>
              </a:rPr>
              <a:t/>
            </a:r>
          </a:p>
          <a:p xmlns:a="http://schemas.openxmlformats.org/drawingml/2006/main">
            <a:r>
              <a:rPr sz="1500">
                <a:latin typeface="Open Sauce"/>
              </a:rPr>
              <a:t># Mini-batches along the sample axis</a:t>
            </a:r>
          </a:p>
          <a:p xmlns:a="http://schemas.openxmlformats.org/drawingml/2006/main">
            <a:r>
              <a:rPr sz="1500">
                <a:latin typeface="Open Sauce"/>
              </a:rPr>
              <a:t>X = np.random.rand(100, 10)</a:t>
            </a:r>
          </a:p>
          <a:p xmlns:a="http://schemas.openxmlformats.org/drawingml/2006/main">
            <a:r>
              <a:rPr sz="1500">
                <a:latin typeface="Open Sauce"/>
              </a:rPr>
              <a:t>batch_size = 16</a:t>
            </a:r>
          </a:p>
          <a:p xmlns:a="http://schemas.openxmlformats.org/drawingml/2006/main">
            <a:r>
              <a:rPr sz="1500">
                <a:latin typeface="Open Sauce"/>
              </a:rPr>
              <a:t>for start in range(0, len(X), batch_size):</a:t>
            </a:r>
          </a:p>
          <a:p xmlns:a="http://schemas.openxmlformats.org/drawingml/2006/main">
            <a:r>
              <a:rPr sz="1500">
                <a:latin typeface="Open Sauce"/>
              </a:rPr>
              <a:t>    batch = X[start:start + batch_size]</a:t>
            </a:r>
          </a:p>
          <a:p xmlns:a="http://schemas.openxmlformats.org/drawingml/2006/main">
            <a:r>
              <a:rPr sz="1500">
                <a:latin typeface="Open Sauce"/>
              </a:rPr>
              <a:t>    # train or transform batch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15BAB-560F-467C-970A-2B83191B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905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ML connection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AC6E9-803B-423E-AD6D-2958ECC0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524250"/>
            <a:ext cx="3905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Vectorization avoids Python loops. Slices preserve the feature dimension while selecting samples.</a:t>
            </a:r>
          </a:p>
        </p:txBody>
      </p:sp>
    </p:spTree>
    <p:extLst>
      <p:ext uri="{BB962C8B-B14F-4D97-AF65-F5344CB8AC3E}">
        <p14:creationId xmlns:p14="http://schemas.microsoft.com/office/powerpoint/2010/main" val="1059441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65BEA-B6D0-4AC1-8B95-C731FFA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283A7-DDDB-4A08-A3C6-928950F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54F7E-3673-4D73-B594-994942B0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7977A-6403-4708-A8E8-AA9F70E2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be93a78e34a7b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86F9B-12E7-4D71-85F2-3B6B23E4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05DE4-4443-40AE-9CEA-72D8E19A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107F3-3677-4747-91F4-D38EBD2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TRAIN-TEST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7B113-D3F9-4CE5-9606-E135608F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Separate evaluation data before fitting the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411E3-7539-4259-955E-A899B7EA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100012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from sklearn.model_selection import train_test_split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X = np.arange(100).reshape(50, 2)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y = np.arange(50)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X_train, X_test, y_train, y_test = train_test_split(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    X, y, test_size=0.2, random_state=42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# X_train: (40, 2)    X_test: (10, 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CA048-1A0F-4267-9A3B-D6D247E4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9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Why split?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2218E-DFE2-4BE4-AF2B-59127234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571875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Use held-out data to estimate how the trained model handles unseen samples.</a:t>
            </a:r>
          </a:p>
        </p:txBody>
      </p:sp>
    </p:spTree>
    <p:extLst>
      <p:ext uri="{BB962C8B-B14F-4D97-AF65-F5344CB8AC3E}">
        <p14:creationId xmlns:p14="http://schemas.microsoft.com/office/powerpoint/2010/main" val="7349218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0BB31-7918-421C-BFD8-5331DF59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CF3C8-3A5F-478C-921F-2C8A4C37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334000" y="4857750"/>
            <a:ext cx="10001250" cy="85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8D4A8-F52E-4945-9B0C-7E6EA7AD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6096000"/>
            <a:ext cx="11430000" cy="104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EDF0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b5b017f6a4bcf"/>
          <a:stretch xmlns:a="http://schemas.openxmlformats.org/drawingml/2006/main"/>
        </p:blipFill>
        <p:spPr>
          <a:xfrm xmlns:a="http://schemas.openxmlformats.org/drawingml/2006/main">
            <a:off x="419100" y="36195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E7899-7235-473E-B87B-88ABA54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390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88139-1FFF-45F8-A245-09658C0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276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48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NUMPY IN THE ML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D1900-1B96-4F12-9BF8-7A3E7AD4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962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From raw numbers to labeled analysis, preprocessing, and model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C127B-1BC0-42AA-B318-F1E3B7C1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89535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65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244809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7C594-B4B5-49A2-9909-87BB180D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F673F-EF90-4DDC-BE10-B4E921CD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F86D-FEB6-455A-BE26-FD2B4F86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9BA57-F7D8-41AD-96DA-197B2505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e415ebb9343b7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8F67F-71C7-48B7-9296-7B33082D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EF568-A1BB-4E03-9B3A-4ABC8BF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443C9-0BF0-49AE-BF1F-46D831D1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NUMPY IN THE ML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4806-B744-4EC1-B61F-92AD696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dataset → NumPy array → numerical processing → Pandas → ML.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7F8D7-C6D5-43C3-A6DC-EE701915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8FC8D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BB167-D707-4707-BED9-C0B139F4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Raw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71A77-B40C-4596-91BA-E0804A3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67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CSV, JSON, sensors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867FF-2765-4DAE-B5AE-C62A2FEE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291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285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E25E3-B980-464C-BB51-15A82DD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041D2-2A4F-4AE2-B5F1-91B9A277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NumPy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47208-289C-4EAE-9A90-6B1AB09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67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ndarray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fast numerical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F1A82-5478-4572-99AC-DF5CE4B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285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A7C1D-0295-4546-9592-4FA7DF74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8FC8D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00039-9F76-4B39-9400-A97BB2B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Pandas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78E02-1E57-48D0-8620-92E9A60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67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DataFrame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labels and cleaning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B45CB-CB3A-4CC6-9FDC-437B1AE2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291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2850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7793F-C599-434F-8EE0-859EC688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714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8FC8D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09239-1498-4A24-83DA-517FA420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2025" b="1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ML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765F5-81D9-47A3-8132-CBCD12D9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667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650" b="0">
                <a:solidFill>
                  <a:srgbClr val="FFFFFF"/>
                </a:solidFill>
                <a:latin typeface="Open Sauce"/>
                <a:ea typeface="Open Sauce"/>
                <a:cs typeface="Open Sauce"/>
              </a:rPr>
              <a:t>fit, predict, evaluate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D35C2-EB6C-412D-B1AE-8FC60C0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48500"/>
            <a:ext cx="1295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NumPy handles the numerical layer; Pandas adds labeled data handling; ML models use the prepared features.</a:t>
            </a:r>
          </a:p>
        </p:txBody>
      </p:sp>
    </p:spTree>
    <p:extLst>
      <p:ext uri="{BB962C8B-B14F-4D97-AF65-F5344CB8AC3E}">
        <p14:creationId xmlns:p14="http://schemas.microsoft.com/office/powerpoint/2010/main" val="15451522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97507-B07E-4E64-977A-8BFBA25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107F8-13BA-453A-A61C-F4C9936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B85B4-391E-4668-91BD-58825CD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B4779-140D-40DC-B82F-3343662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85a1800994628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C3A39-2481-41F4-B36F-51ED1C6C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690C8-9F93-48E1-97B7-C9721DFC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EED2A-018C-4A29-AA2A-71990970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END-TO-END FEATURE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4D2CA-4A2C-4454-B655-B6E7A10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Slicing, statistics, scaling, and matrix operations work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753CB-74F2-45BD-B154-F2CF6E8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10382250" cy="5429250"/>
          </a:xfrm>
          <a:prstGeom xmlns:a="http://schemas.openxmlformats.org/drawingml/2006/main" prst="roundRect">
            <a:avLst>
              <a:gd name="adj" fmla="val 2456"/>
            </a:avLst>
          </a:prstGeom>
          <a:solidFill xmlns:a="http://schemas.openxmlformats.org/drawingml/2006/main">
            <a:srgbClr val="0754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Open Sauce"/>
                <a:ea typeface="Open Sauce"/>
                <a:cs typeface="Open Sauce"/>
              </a:defRPr>
            </a:pPr>
            <a:r>
              <a:rPr sz="1425">
                <a:latin typeface="Open Sauce"/>
              </a:rPr>
              <a:t>data = np.array([[2., 60., 50.],</a:t>
            </a:r>
          </a:p>
          <a:p xmlns:a="http://schemas.openxmlformats.org/drawingml/2006/main">
            <a:r>
              <a:rPr sz="1425">
                <a:latin typeface="Open Sauce"/>
              </a:rPr>
              <a:t>                 [4., 80., 60.],</a:t>
            </a:r>
          </a:p>
          <a:p xmlns:a="http://schemas.openxmlformats.org/drawingml/2006/main">
            <a:r>
              <a:rPr sz="1425">
                <a:latin typeface="Open Sauce"/>
              </a:rPr>
              <a:t>                 [6., 70., 75.],</a:t>
            </a:r>
          </a:p>
          <a:p xmlns:a="http://schemas.openxmlformats.org/drawingml/2006/main">
            <a:r>
              <a:rPr sz="1425">
                <a:latin typeface="Open Sauce"/>
              </a:rPr>
              <a:t>                 [8., 90., 90.]])</a:t>
            </a:r>
          </a:p>
          <a:p xmlns:a="http://schemas.openxmlformats.org/drawingml/2006/main">
            <a:r>
              <a:rPr sz="1425">
                <a:latin typeface="Open Sauce"/>
              </a:rPr>
              <a:t/>
            </a:r>
          </a:p>
          <a:p xmlns:a="http://schemas.openxmlformats.org/drawingml/2006/main">
            <a:r>
              <a:rPr sz="1425">
                <a:latin typeface="Open Sauce"/>
              </a:rPr>
              <a:t>X = data[:, :2]       # shape (4, 2)</a:t>
            </a:r>
          </a:p>
          <a:p xmlns:a="http://schemas.openxmlformats.org/drawingml/2006/main">
            <a:r>
              <a:rPr sz="1425">
                <a:latin typeface="Open Sauce"/>
              </a:rPr>
              <a:t>y = data[:, 2]        # shape (4,)</a:t>
            </a:r>
          </a:p>
          <a:p xmlns:a="http://schemas.openxmlformats.org/drawingml/2006/main">
            <a:r>
              <a:rPr sz="1425">
                <a:latin typeface="Open Sauce"/>
              </a:rPr>
              <a:t>X_scaled = (X - X.min(axis=0)) / (X.max(axis=0) - X.min(axis=0))</a:t>
            </a:r>
          </a:p>
          <a:p xmlns:a="http://schemas.openxmlformats.org/drawingml/2006/main">
            <a:r>
              <a:rPr sz="1425">
                <a:latin typeface="Open Sauce"/>
              </a:rPr>
              <a:t/>
            </a:r>
          </a:p>
          <a:p xmlns:a="http://schemas.openxmlformats.org/drawingml/2006/main">
            <a:r>
              <a:rPr sz="1425">
                <a:latin typeface="Open Sauce"/>
              </a:rPr>
              <a:t># first scaled row: [0. 0.]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289A4-65AC-47FD-8E01-78404DD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857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Concept → syntax →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5A235-4AF3-4E06-A687-808A753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524250"/>
            <a:ext cx="409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latin typeface="Open Sauce"/>
              </a:rPr>
              <a:t>Features: X</a:t>
            </a:r>
          </a:p>
          <a:p xmlns:a="http://schemas.openxmlformats.org/drawingml/2006/main">
            <a:r>
              <a:rPr sz="1725">
                <a:latin typeface="Open Sauce"/>
              </a:rPr>
              <a:t>Target: y</a:t>
            </a:r>
          </a:p>
          <a:p xmlns:a="http://schemas.openxmlformats.org/drawingml/2006/main">
            <a:r>
              <a:rPr sz="1725">
                <a:latin typeface="Open Sauce"/>
              </a:rPr>
              <a:t>Scaling: min-max per feature</a:t>
            </a:r>
          </a:p>
          <a:p xmlns:a="http://schemas.openxmlformats.org/drawingml/2006/main">
            <a:r>
              <a:rPr sz="1725">
                <a:latin typeface="Open Sauce"/>
              </a:rPr>
              <a:t>Output: each feature ranges from 0 to 1.</a:t>
            </a:r>
          </a:p>
        </p:txBody>
      </p:sp>
    </p:spTree>
    <p:extLst>
      <p:ext uri="{BB962C8B-B14F-4D97-AF65-F5344CB8AC3E}">
        <p14:creationId xmlns:p14="http://schemas.microsoft.com/office/powerpoint/2010/main" val="8477571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DE999-D51D-4A5B-B714-3286D949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5C178-1C79-4F58-8254-88F6A489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59953-DFED-41EA-907C-189E82A4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7F966-F8D4-45F4-9EAC-C192ADEF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46d54c96b4841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B7658-3E18-4E20-BAA9-E3DECEBF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ML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D0FCE-5182-4B11-B14A-BF6E78D5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B946E-5D55-4965-A260-CF102781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QUICK REFERENCE AND COMMON GOTCHAS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90BB4-5BC2-4B7F-BC9C-0CDBF74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The habits that prevent most early NumPy mistakes.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5DF4D-BDFD-4BF9-957A-4DD18AB0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Useful patterns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114DB-779A-4571-ABDF-12FA3AA6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18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Watch for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AE9CB-5D39-45CA-91D8-6109296B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8575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B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F30A8-8A82-4764-B561-DCC56C48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638175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arr.shape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arr.dtype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 * 2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arr[mask]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arr.reshape(rows, cols)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X.mean(axis=0)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X @ w +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877A2-3C45-4128-AA35-133653A8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638175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(2,3) + (2,2) fails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 = b shares the same array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astype(int) truncates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Use &amp; and | for masks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Fix a random seed</a:t>
            </a:r>
          </a:p>
          <a:p xmlns:a="http://schemas.openxmlformats.org/drawingml/2006/main">
            <a:pPr>
              <a:def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8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Avoid np.matrix</a:t>
            </a:r>
          </a:p>
        </p:txBody>
      </p:sp>
    </p:spTree>
    <p:extLst>
      <p:ext uri="{BB962C8B-B14F-4D97-AF65-F5344CB8AC3E}">
        <p14:creationId xmlns:p14="http://schemas.microsoft.com/office/powerpoint/2010/main" val="13742009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246C6-A786-4F97-9BBE-DB23C72D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9C00C-B259-48C6-8EC3-1FE5ADA0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96450"/>
            <a:ext cx="1828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3759B-5671-46DC-A358-0CA7DB17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90B3E-A028-477D-9462-42C838AB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-3619500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0F1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5be4f12ba44bf"/>
          <a:stretch xmlns:a="http://schemas.openxmlformats.org/drawingml/2006/main"/>
        </p:blipFill>
        <p:spPr>
          <a:xfrm xmlns:a="http://schemas.openxmlformats.org/drawingml/2006/main">
            <a:off x="323850" y="36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B16B8-6791-4BC0-BE46-8C6B4D5C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AB2F6-4D7C-4B73-A0F2-96EE46AF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91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200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16770-C484-48D1-A06F-DC44BB24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00125"/>
            <a:ext cx="1524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315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KEY TAKEAWAYS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31FE2-E57E-4D06-888A-8B248CE1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1575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NumPy gives ML code its numerical vocabulary.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227C6-680E-4858-BE7F-704F6291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622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8DFDA-31F5-4167-8712-490B5C7F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432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ndarray holds homogeneous numerical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65CAD-92A5-404F-81C5-09DC2DD7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62375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20FC5-00BA-43CB-AF4B-060A114A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433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shape and axis define how operations behave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C7091-D4E3-4253-8E6D-6B60DCD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683AF-BCA4-4A85-94AE-540CE50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43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vectorization and broadcasting replace many loops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51ACA-565E-4D97-A024-025B5BDF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62625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F7492-5720-4D59-8511-FDEA2F0C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435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100" b="0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linear algebra maps features to predictions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05A58-F481-498B-AA7B-A011C379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7627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defRPr>
            </a:pPr>
            <a:r>
              <a:rPr sz="1875" b="1">
                <a:solidFill>
                  <a:srgbClr val="1286B2"/>
                </a:solidFill>
                <a:latin typeface="Open Sauce"/>
                <a:ea typeface="Open Sauce"/>
                <a:cs typeface="Open Sauce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D5D85-8969-4BF4-A3A2-1DFDCC0A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7437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2100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NumPy connects raw data, Pandas, and ML libraries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D73D9-8A78-46AF-A0AF-6F3E24B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96250"/>
            <a:ext cx="1190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175" b="1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Check shape first. Then write the numerical operation you mean.</a:t>
            </a:r>
          </a:p>
        </p:txBody>
      </p:sp>
    </p:spTree>
    <p:extLst>
      <p:ext uri="{BB962C8B-B14F-4D97-AF65-F5344CB8AC3E}">
        <p14:creationId xmlns:p14="http://schemas.microsoft.com/office/powerpoint/2010/main" val="4954677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EC416-4FAA-461A-A9E5-F8ADC214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3905250"/>
            <a:ext cx="11430000" cy="106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D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727B2-9F6E-4773-A1BD-8180AB07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857750" y="7048500"/>
            <a:ext cx="9525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6B2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802626c994b4e"/>
          <a:stretch xmlns:a="http://schemas.openxmlformats.org/drawingml/2006/main"/>
        </p:blipFill>
        <p:spPr>
          <a:xfrm xmlns:a="http://schemas.openxmlformats.org/drawingml/2006/main">
            <a:off x="809625" y="7143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411AB-5038-4B57-89F1-BA68A561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52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63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5C3B9-BFE1-4DE7-AF94-0F9F4DA6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1143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75" b="1">
                <a:solidFill>
                  <a:srgbClr val="075481"/>
                </a:solidFill>
                <a:latin typeface="Open Sauce"/>
                <a:ea typeface="Open Sauce"/>
                <a:cs typeface="Open Sauce"/>
              </a:defRPr>
            </a:pPr>
            <a:r>
              <a:rPr sz="6375" b="1">
                <a:solidFill>
                  <a:srgbClr val="075481"/>
                </a:solidFill>
                <a:latin typeface="Open Sauce"/>
                <a:ea typeface="Open Sauce"/>
                <a:cs typeface="Open Sauce"/>
              </a:rPr>
              <a:t>VERY MUCH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B6607-8C97-46C9-80D6-7DC5FF5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341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9738E"/>
                </a:solidFill>
                <a:latin typeface="Open Sauce"/>
                <a:ea typeface="Open Sauce"/>
                <a:cs typeface="Open Sauce"/>
              </a:defRPr>
            </a:pPr>
            <a:r>
              <a:rPr sz="2250" b="0">
                <a:solidFill>
                  <a:srgbClr val="39738E"/>
                </a:solidFill>
                <a:latin typeface="Open Sauce"/>
                <a:ea typeface="Open Sauce"/>
                <a:cs typeface="Open Sauce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373088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2026-10-05T18:42:10.7340000Z</dcterms:created>
  <dcterms:modified xsi:type="dcterms:W3CDTF">2026-10-05T18:42:10.7340000Z</dcterms:modified>
</coreProperties>
</file>